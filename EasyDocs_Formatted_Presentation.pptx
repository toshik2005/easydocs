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46" r:id="rId3"/>
    <p:sldId id="347" r:id="rId4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 snapToGrid="0">
      <p:cViewPr>
        <p:scale>
          <a:sx n="77" d="100"/>
          <a:sy n="77" d="100"/>
        </p:scale>
        <p:origin x="883" y="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  <a:pPr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59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348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97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5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665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377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633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564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75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48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0760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92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147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9310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065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137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3390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51147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6879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>
    <p:fade/>
  </p:transition>
  <p:hf sldNum="0" hdr="0" ftr="0" dt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itchFamily="18" charset="0"/>
          <a:ea typeface="+mj-ea"/>
          <a:cs typeface="Times New Roman" pitchFamily="18" charset="0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5pPr>
      <a:lvl6pPr marL="4572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6pPr>
      <a:lvl7pPr marL="9144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7pPr>
      <a:lvl8pPr marL="13716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8pPr>
      <a:lvl9pPr marL="1828800" algn="l" defTabSz="912813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222209" y="5053653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>
                <a:solidFill>
                  <a:srgbClr val="FF0000"/>
                </a:solidFill>
              </a:rPr>
              <a:t>Minor Project Presentation</a:t>
            </a:r>
            <a:endParaRPr lang="en-US" sz="40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On</a:t>
            </a:r>
            <a:r>
              <a:rPr lang="en-IN" altLang="en-US" sz="1400" b="1" dirty="0">
                <a:solidFill>
                  <a:schemeClr val="tx1"/>
                </a:solidFill>
              </a:rPr>
              <a:t> </a:t>
            </a: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b="1" dirty="0">
                <a:solidFill>
                  <a:schemeClr val="tx1"/>
                </a:solidFill>
              </a:rPr>
              <a:t>“&lt;Name of Minor Project&gt;”</a:t>
            </a: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54305" y="3308447"/>
            <a:ext cx="3192624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363" indent="-284163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413" indent="-2270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613" indent="-2270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5813" indent="-2270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Presented By:-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Mahesh Kumar Joshi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24BCON123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05565" y="3651803"/>
            <a:ext cx="306422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Guide:-</a:t>
            </a:r>
          </a:p>
          <a:p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Dr./Mr./ Ms. XYZ</a:t>
            </a:r>
            <a:br>
              <a:rPr lang="en-US" sz="19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1900" b="1" dirty="0">
                <a:latin typeface="Times New Roman" pitchFamily="18" charset="0"/>
                <a:cs typeface="Times New Roman" pitchFamily="18" charset="0"/>
              </a:rPr>
              <a:t>Assistant Professor</a:t>
            </a:r>
          </a:p>
          <a:p>
            <a:endParaRPr lang="en-US" sz="19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024" y="3134786"/>
            <a:ext cx="3716594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118167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6"/>
          <p:cNvSpPr>
            <a:spLocks noChangeArrowheads="1"/>
          </p:cNvSpPr>
          <p:nvPr/>
        </p:nvSpPr>
        <p:spPr bwMode="auto">
          <a:xfrm>
            <a:off x="2109216" y="356617"/>
            <a:ext cx="82296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0" eaLnBrk="1" hangingPunct="1">
              <a:spcBef>
                <a:spcPct val="0"/>
              </a:spcBef>
              <a:buFontTx/>
              <a:buNone/>
            </a:pPr>
            <a:endParaRPr lang="en-US" altLang="en-US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72" name="Rectangle 7"/>
          <p:cNvSpPr>
            <a:spLocks noChangeArrowheads="1"/>
          </p:cNvSpPr>
          <p:nvPr/>
        </p:nvSpPr>
        <p:spPr bwMode="auto">
          <a:xfrm>
            <a:off x="798945" y="1627909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 algn="r" rtl="1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600" indent="-533400" algn="r" rtl="1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457200" algn="r" rtl="1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52600" indent="-381000" algn="r" rtl="1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09800" indent="-381000" algn="r" rtl="1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670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1242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814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38600" indent="-381000" algn="r" rtl="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rtl="0" eaLnBrk="1" hangingPunct="1">
              <a:buClr>
                <a:schemeClr val="bg1"/>
              </a:buClr>
              <a:buNone/>
            </a:pPr>
            <a:endParaRPr lang="en-US" altLang="en-US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3520441" y="283464"/>
            <a:ext cx="49011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558" y="1244384"/>
            <a:ext cx="117623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 &amp; Problem Statement (Background, motivation, and the core problem being addressed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Literature Review (if any) or System Design (</a:t>
            </a:r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Block diagrams, flowcharts,</a:t>
            </a:r>
            <a:r>
              <a:rPr lang="en-IN" dirty="0"/>
              <a:t> 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SRS, UML Diagrams, DFD, ER Diagrams etc. 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 (Approach, architecture, algorithms or processes used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Tools and Technology Used (Hardware components, software, programming languages, frameworks, libraries)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Roles and Responsibilities of each Member</a:t>
            </a:r>
          </a:p>
          <a:p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Implementation (Step-by-step development, modules built, code snippets etc.)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Results (Screenshots, graphs, test data, observations, and performance metrics etc.</a:t>
            </a:r>
            <a:r>
              <a:rPr lang="en-US" dirty="0"/>
              <a:t>)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&amp; Future Scope (Summary of achievements, limitations, and possible future enhancements)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 (Books, research papers, websites cited in IEEE or APA format)</a:t>
            </a:r>
          </a:p>
        </p:txBody>
      </p:sp>
    </p:spTree>
    <p:extLst>
      <p:ext uri="{BB962C8B-B14F-4D97-AF65-F5344CB8AC3E}">
        <p14:creationId xmlns:p14="http://schemas.microsoft.com/office/powerpoint/2010/main" val="340167317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AI-powered document intelligence platform</a:t>
            </a:r>
          </a:p>
          <a:p>
            <a:pPr/>
            <a:r>
              <a:rPr sz="2000" b="0">
                <a:latin typeface="Times New Roman"/>
              </a:rPr>
              <a:t>Supports PDF and DOCX document analysis</a:t>
            </a:r>
          </a:p>
          <a:p>
            <a:pPr/>
            <a:r>
              <a:rPr sz="2000" b="0">
                <a:latin typeface="Times New Roman"/>
              </a:rPr>
              <a:t>Provides summaries and AI-based chat</a:t>
            </a:r>
          </a:p>
          <a:p>
            <a:pPr/>
            <a:r>
              <a:rPr sz="2000" b="0">
                <a:latin typeface="Times New Roman"/>
              </a:rPr>
              <a:t>Uses Retrieval-Augmented Generation (RAG)</a:t>
            </a:r>
          </a:p>
          <a:p>
            <a:pPr/>
            <a:r>
              <a:rPr sz="2000" b="0">
                <a:latin typeface="Times New Roman"/>
              </a:rPr>
              <a:t>Built with scalable production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Manual document reading is time-consuming</a:t>
            </a:r>
          </a:p>
          <a:p>
            <a:pPr/>
            <a:r>
              <a:rPr sz="2000" b="0">
                <a:latin typeface="Times New Roman"/>
              </a:rPr>
              <a:t>AI tools often hallucinate information</a:t>
            </a:r>
          </a:p>
          <a:p>
            <a:pPr/>
            <a:r>
              <a:rPr sz="2000" b="0">
                <a:latin typeface="Times New Roman"/>
              </a:rPr>
              <a:t>Lack of source citations reduces trust</a:t>
            </a:r>
          </a:p>
          <a:p>
            <a:pPr/>
            <a:r>
              <a:rPr sz="2000" b="0">
                <a:latin typeface="Times New Roman"/>
              </a:rPr>
              <a:t>Scanned PDFs are difficult to process</a:t>
            </a:r>
          </a:p>
          <a:p>
            <a:pPr/>
            <a:r>
              <a:rPr sz="2000" b="0">
                <a:latin typeface="Times New Roman"/>
              </a:rPr>
              <a:t>Single-provider AI dependency causes downtime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Generate accurate document summaries</a:t>
            </a:r>
          </a:p>
          <a:p>
            <a:pPr/>
            <a:r>
              <a:rPr sz="2000" b="0">
                <a:latin typeface="Times New Roman"/>
              </a:rPr>
              <a:t>Provide source-cited AI answers</a:t>
            </a:r>
          </a:p>
          <a:p>
            <a:pPr/>
            <a:r>
              <a:rPr sz="2000" b="0">
                <a:latin typeface="Times New Roman"/>
              </a:rPr>
              <a:t>Support OCR for scanned PDFs</a:t>
            </a:r>
          </a:p>
          <a:p>
            <a:pPr/>
            <a:r>
              <a:rPr sz="2000" b="0">
                <a:latin typeface="Times New Roman"/>
              </a:rPr>
              <a:t>Build scalable async processing pipeline</a:t>
            </a:r>
          </a:p>
          <a:p>
            <a:pPr/>
            <a:r>
              <a:rPr sz="2000" b="0">
                <a:latin typeface="Times New Roman"/>
              </a:rPr>
              <a:t>Implement multi-LLM failover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Studied ChatPDF and Humata AI</a:t>
            </a:r>
          </a:p>
          <a:p>
            <a:pPr/>
            <a:r>
              <a:rPr sz="2000" b="0">
                <a:latin typeface="Times New Roman"/>
              </a:rPr>
              <a:t>Analyzed NotebookLM and Adobe AI</a:t>
            </a:r>
          </a:p>
          <a:p>
            <a:pPr/>
            <a:r>
              <a:rPr sz="2000" b="0">
                <a:latin typeface="Times New Roman"/>
              </a:rPr>
              <a:t>Researched RAG architecture</a:t>
            </a:r>
          </a:p>
          <a:p>
            <a:pPr/>
            <a:r>
              <a:rPr sz="2000" b="0">
                <a:latin typeface="Times New Roman"/>
              </a:rPr>
              <a:t>Studied FAISS vector search</a:t>
            </a:r>
          </a:p>
          <a:p>
            <a:pPr/>
            <a:r>
              <a:rPr sz="2000" b="0">
                <a:latin typeface="Times New Roman"/>
              </a:rPr>
              <a:t>Identified limitations in existing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Frontend: Next.js 14 + Tailwind CSS</a:t>
            </a:r>
          </a:p>
          <a:p>
            <a:pPr/>
            <a:r>
              <a:rPr sz="2000" b="0">
                <a:latin typeface="Times New Roman"/>
              </a:rPr>
              <a:t>Backend: FastAPI + Uvicorn</a:t>
            </a:r>
          </a:p>
          <a:p>
            <a:pPr/>
            <a:r>
              <a:rPr sz="2000" b="0">
                <a:latin typeface="Times New Roman"/>
              </a:rPr>
              <a:t>Database: MongoDB</a:t>
            </a:r>
          </a:p>
          <a:p>
            <a:pPr/>
            <a:r>
              <a:rPr sz="2000" b="0">
                <a:latin typeface="Times New Roman"/>
              </a:rPr>
              <a:t>Queue System: Celery + Redis</a:t>
            </a:r>
          </a:p>
          <a:p>
            <a:pPr/>
            <a:r>
              <a:rPr sz="2000" b="0">
                <a:latin typeface="Times New Roman"/>
              </a:rPr>
              <a:t>Vector Storage: FAISS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Frontend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Responsive UI using Tailwind CSS</a:t>
            </a:r>
          </a:p>
          <a:p>
            <a:pPr/>
            <a:r>
              <a:rPr sz="2000" b="0">
                <a:latin typeface="Times New Roman"/>
              </a:rPr>
              <a:t>State management using Zustand</a:t>
            </a:r>
          </a:p>
          <a:p>
            <a:pPr/>
            <a:r>
              <a:rPr sz="2000" b="0">
                <a:latin typeface="Times New Roman"/>
              </a:rPr>
              <a:t>Dashboard for uploaded documents</a:t>
            </a:r>
          </a:p>
          <a:p>
            <a:pPr/>
            <a:r>
              <a:rPr sz="2000" b="0">
                <a:latin typeface="Times New Roman"/>
              </a:rPr>
              <a:t>Real-time updates using SSE</a:t>
            </a:r>
          </a:p>
          <a:p>
            <a:pPr/>
            <a:r>
              <a:rPr sz="2000" b="0">
                <a:latin typeface="Times New Roman"/>
              </a:rPr>
              <a:t>AI chat interface with citations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Backend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REST APIs built using FastAPI</a:t>
            </a:r>
          </a:p>
          <a:p>
            <a:pPr/>
            <a:r>
              <a:rPr sz="2000" b="0">
                <a:latin typeface="Times New Roman"/>
              </a:rPr>
              <a:t>JWT-based authentication system</a:t>
            </a:r>
          </a:p>
          <a:p>
            <a:pPr/>
            <a:r>
              <a:rPr sz="2000" b="0">
                <a:latin typeface="Times New Roman"/>
              </a:rPr>
              <a:t>File upload and validation APIs</a:t>
            </a:r>
          </a:p>
          <a:p>
            <a:pPr/>
            <a:r>
              <a:rPr sz="2000" b="0">
                <a:latin typeface="Times New Roman"/>
              </a:rPr>
              <a:t>Chat and summarization endpoints</a:t>
            </a:r>
          </a:p>
          <a:p>
            <a:pPr/>
            <a:r>
              <a:rPr sz="2000" b="0">
                <a:latin typeface="Times New Roman"/>
              </a:rPr>
              <a:t>Middleware for security and error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Document 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File Upload and Validation</a:t>
            </a:r>
          </a:p>
          <a:p>
            <a:pPr/>
            <a:r>
              <a:rPr sz="2000" b="0">
                <a:latin typeface="Times New Roman"/>
              </a:rPr>
              <a:t>Text Parsing</a:t>
            </a:r>
          </a:p>
          <a:p>
            <a:pPr/>
            <a:r>
              <a:rPr sz="2000" b="0">
                <a:latin typeface="Times New Roman"/>
              </a:rPr>
              <a:t>OCR Fallback</a:t>
            </a:r>
          </a:p>
          <a:p>
            <a:pPr/>
            <a:r>
              <a:rPr sz="2000" b="0">
                <a:latin typeface="Times New Roman"/>
              </a:rPr>
              <a:t>Smart Chunking</a:t>
            </a:r>
          </a:p>
          <a:p>
            <a:pPr/>
            <a:r>
              <a:rPr sz="2000" b="0">
                <a:latin typeface="Times New Roman"/>
              </a:rPr>
              <a:t>Embedding Generation</a:t>
            </a:r>
          </a:p>
          <a:p>
            <a:pPr/>
            <a:r>
              <a:rPr sz="2000" b="0">
                <a:latin typeface="Times New Roman"/>
              </a:rPr>
              <a:t>Summarization and RAG Chat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OCR &amp; Parsing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PyMuPDF for PDF extraction</a:t>
            </a:r>
          </a:p>
          <a:p>
            <a:pPr/>
            <a:r>
              <a:rPr sz="2000" b="0">
                <a:latin typeface="Times New Roman"/>
              </a:rPr>
              <a:t>python-docx for DOCX parsing</a:t>
            </a:r>
          </a:p>
          <a:p>
            <a:pPr/>
            <a:r>
              <a:rPr sz="2000" b="0">
                <a:latin typeface="Times New Roman"/>
              </a:rPr>
              <a:t>Tesseract OCR for scanned PDFs</a:t>
            </a:r>
          </a:p>
          <a:p>
            <a:pPr/>
            <a:r>
              <a:rPr sz="2000" b="0">
                <a:latin typeface="Times New Roman"/>
              </a:rPr>
              <a:t>Automatic OCR quality detection</a:t>
            </a:r>
          </a:p>
          <a:p>
            <a:pPr/>
            <a:r>
              <a:rPr sz="2000" b="0">
                <a:latin typeface="Times New Roman"/>
              </a:rPr>
              <a:t>Text cleaning and normalization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Smart Chunking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Paragraph-aware chunk splitting</a:t>
            </a:r>
          </a:p>
          <a:p>
            <a:pPr/>
            <a:r>
              <a:rPr sz="2000" b="0">
                <a:latin typeface="Times New Roman"/>
              </a:rPr>
              <a:t>400–600 token chunk size</a:t>
            </a:r>
          </a:p>
          <a:p>
            <a:pPr/>
            <a:r>
              <a:rPr sz="2000" b="0">
                <a:latin typeface="Times New Roman"/>
              </a:rPr>
              <a:t>100-token overlap preservation</a:t>
            </a:r>
          </a:p>
          <a:p>
            <a:pPr/>
            <a:r>
              <a:rPr sz="2000" b="0">
                <a:latin typeface="Times New Roman"/>
              </a:rPr>
              <a:t>Page number tracking</a:t>
            </a:r>
          </a:p>
          <a:p>
            <a:pPr/>
            <a:r>
              <a:rPr sz="2000" b="0">
                <a:latin typeface="Times New Roman"/>
              </a:rPr>
              <a:t>Improves retrieval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Embedding &amp;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Gemini embeddings as primary provider</a:t>
            </a:r>
          </a:p>
          <a:p>
            <a:pPr/>
            <a:r>
              <a:rPr sz="2000" b="0">
                <a:latin typeface="Times New Roman"/>
              </a:rPr>
              <a:t>OpenAI and HuggingFace as failovers</a:t>
            </a:r>
          </a:p>
          <a:p>
            <a:pPr/>
            <a:r>
              <a:rPr sz="2000" b="0">
                <a:latin typeface="Times New Roman"/>
              </a:rPr>
              <a:t>Vectors stored in FAISS</a:t>
            </a:r>
          </a:p>
          <a:p>
            <a:pPr/>
            <a:r>
              <a:rPr sz="2000" b="0">
                <a:latin typeface="Times New Roman"/>
              </a:rPr>
              <a:t>Top-K semantic retrieval</a:t>
            </a:r>
          </a:p>
          <a:p>
            <a:pPr/>
            <a:r>
              <a:rPr sz="2000" b="0">
                <a:latin typeface="Times New Roman"/>
              </a:rPr>
              <a:t>Cosine similarity search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RAG Chat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User submits question</a:t>
            </a:r>
          </a:p>
          <a:p>
            <a:pPr/>
            <a:r>
              <a:rPr sz="2000" b="0">
                <a:latin typeface="Times New Roman"/>
              </a:rPr>
              <a:t>Question converted into embeddings</a:t>
            </a:r>
          </a:p>
          <a:p>
            <a:pPr/>
            <a:r>
              <a:rPr sz="2000" b="0">
                <a:latin typeface="Times New Roman"/>
              </a:rPr>
              <a:t>FAISS retrieves relevant chunks</a:t>
            </a:r>
          </a:p>
          <a:p>
            <a:pPr/>
            <a:r>
              <a:rPr sz="2000" b="0">
                <a:latin typeface="Times New Roman"/>
              </a:rPr>
              <a:t>LLM generates grounded answers</a:t>
            </a:r>
          </a:p>
          <a:p>
            <a:pPr/>
            <a:r>
              <a:rPr sz="2000" b="0">
                <a:latin typeface="Times New Roman"/>
              </a:rPr>
              <a:t>Page citations displayed to user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Multi-LLM Failover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Primary Provider: Groq</a:t>
            </a:r>
          </a:p>
          <a:p>
            <a:pPr/>
            <a:r>
              <a:rPr sz="2000" b="0">
                <a:latin typeface="Times New Roman"/>
              </a:rPr>
              <a:t>Fallback Provider: OpenRouter</a:t>
            </a:r>
          </a:p>
          <a:p>
            <a:pPr/>
            <a:r>
              <a:rPr sz="2000" b="0">
                <a:latin typeface="Times New Roman"/>
              </a:rPr>
              <a:t>Offline Fallback: Ollama</a:t>
            </a:r>
          </a:p>
          <a:p>
            <a:pPr/>
            <a:r>
              <a:rPr sz="2000" b="0">
                <a:latin typeface="Times New Roman"/>
              </a:rPr>
              <a:t>Circuit breaker implementation</a:t>
            </a:r>
          </a:p>
          <a:p>
            <a:pPr/>
            <a:r>
              <a:rPr sz="2000" b="0">
                <a:latin typeface="Times New Roman"/>
              </a:rPr>
              <a:t>Exponential backoff retry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MongoDB stores metadata and chat history</a:t>
            </a:r>
          </a:p>
          <a:p>
            <a:pPr/>
            <a:r>
              <a:rPr sz="2000" b="0">
                <a:latin typeface="Times New Roman"/>
              </a:rPr>
              <a:t>Documents collection</a:t>
            </a:r>
          </a:p>
          <a:p>
            <a:pPr/>
            <a:r>
              <a:rPr sz="2000" b="0">
                <a:latin typeface="Times New Roman"/>
              </a:rPr>
              <a:t>Chunks collection</a:t>
            </a:r>
          </a:p>
          <a:p>
            <a:pPr/>
            <a:r>
              <a:rPr sz="2000" b="0">
                <a:latin typeface="Times New Roman"/>
              </a:rPr>
              <a:t>Chat history collection</a:t>
            </a:r>
          </a:p>
          <a:p>
            <a:pPr/>
            <a:r>
              <a:rPr sz="2000" b="0">
                <a:latin typeface="Times New Roman"/>
              </a:rPr>
              <a:t>FAISS mapping 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JWT authentication</a:t>
            </a:r>
          </a:p>
          <a:p>
            <a:pPr/>
            <a:r>
              <a:rPr sz="2000" b="0">
                <a:latin typeface="Times New Roman"/>
              </a:rPr>
              <a:t>MIME-type validation</a:t>
            </a:r>
          </a:p>
          <a:p>
            <a:pPr/>
            <a:r>
              <a:rPr sz="2000" b="0">
                <a:latin typeface="Times New Roman"/>
              </a:rPr>
              <a:t>SHA-256 duplicate detection</a:t>
            </a:r>
          </a:p>
          <a:p>
            <a:pPr/>
            <a:r>
              <a:rPr sz="2000" b="0">
                <a:latin typeface="Times New Roman"/>
              </a:rPr>
              <a:t>Prompt injection sanitization</a:t>
            </a:r>
          </a:p>
          <a:p>
            <a:pPr/>
            <a:r>
              <a:rPr sz="2000" b="0">
                <a:latin typeface="Times New Roman"/>
              </a:rPr>
              <a:t>Filename sanitization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Frontend: Next.js, Tailwind CSS</a:t>
            </a:r>
          </a:p>
          <a:p>
            <a:pPr/>
            <a:r>
              <a:rPr sz="2000" b="0">
                <a:latin typeface="Times New Roman"/>
              </a:rPr>
              <a:t>Backend: FastAPI</a:t>
            </a:r>
          </a:p>
          <a:p>
            <a:pPr/>
            <a:r>
              <a:rPr sz="2000" b="0">
                <a:latin typeface="Times New Roman"/>
              </a:rPr>
              <a:t>Database: MongoDB</a:t>
            </a:r>
          </a:p>
          <a:p>
            <a:pPr/>
            <a:r>
              <a:rPr sz="2000" b="0">
                <a:latin typeface="Times New Roman"/>
              </a:rPr>
              <a:t>Queue: Celery + Redis</a:t>
            </a:r>
          </a:p>
          <a:p>
            <a:pPr/>
            <a:r>
              <a:rPr sz="2000" b="0">
                <a:latin typeface="Times New Roman"/>
              </a:rPr>
              <a:t>AI: Groq, Gemini, Ollama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Implementation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Upload &amp; Validation Module</a:t>
            </a:r>
          </a:p>
          <a:p>
            <a:pPr/>
            <a:r>
              <a:rPr sz="2000" b="0">
                <a:latin typeface="Times New Roman"/>
              </a:rPr>
              <a:t>Parsing &amp; OCR Module</a:t>
            </a:r>
          </a:p>
          <a:p>
            <a:pPr/>
            <a:r>
              <a:rPr sz="2000" b="0">
                <a:latin typeface="Times New Roman"/>
              </a:rPr>
              <a:t>Chunking Module</a:t>
            </a:r>
          </a:p>
          <a:p>
            <a:pPr/>
            <a:r>
              <a:rPr sz="2000" b="0">
                <a:latin typeface="Times New Roman"/>
              </a:rPr>
              <a:t>Embedding Module</a:t>
            </a:r>
          </a:p>
          <a:p>
            <a:pPr/>
            <a:r>
              <a:rPr sz="2000" b="0">
                <a:latin typeface="Times New Roman"/>
              </a:rPr>
              <a:t>Summarization Module</a:t>
            </a:r>
          </a:p>
          <a:p>
            <a:pPr/>
            <a:r>
              <a:rPr sz="2000" b="0">
                <a:latin typeface="Times New Roman"/>
              </a:rPr>
              <a:t>RAG Chat Module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100 concurrent users tested</a:t>
            </a:r>
          </a:p>
          <a:p>
            <a:pPr/>
            <a:r>
              <a:rPr sz="2000" b="0">
                <a:latin typeface="Times New Roman"/>
              </a:rPr>
              <a:t>Average chat latency: 1.8 sec</a:t>
            </a:r>
          </a:p>
          <a:p>
            <a:pPr/>
            <a:r>
              <a:rPr sz="2000" b="0">
                <a:latin typeface="Times New Roman"/>
              </a:rPr>
              <a:t>20-page PDF processed in 38 sec</a:t>
            </a:r>
          </a:p>
          <a:p>
            <a:pPr/>
            <a:r>
              <a:rPr sz="2000" b="0">
                <a:latin typeface="Times New Roman"/>
              </a:rPr>
              <a:t>99.8% uptime achieved</a:t>
            </a:r>
          </a:p>
          <a:p>
            <a:pPr/>
            <a:r>
              <a:rPr sz="2000" b="0">
                <a:latin typeface="Times New Roman"/>
              </a:rPr>
              <a:t>All functional tests passed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Built production-style AI platform</a:t>
            </a:r>
          </a:p>
          <a:p>
            <a:pPr/>
            <a:r>
              <a:rPr sz="2000" b="0">
                <a:latin typeface="Times New Roman"/>
              </a:rPr>
              <a:t>Implemented scalable RAG system</a:t>
            </a:r>
          </a:p>
          <a:p>
            <a:pPr/>
            <a:r>
              <a:rPr sz="2000" b="0">
                <a:latin typeface="Times New Roman"/>
              </a:rPr>
              <a:t>Designed failover architecture</a:t>
            </a:r>
          </a:p>
          <a:p>
            <a:pPr/>
            <a:r>
              <a:rPr sz="2000" b="0">
                <a:latin typeface="Times New Roman"/>
              </a:rPr>
              <a:t>Integrated OCR support</a:t>
            </a:r>
          </a:p>
          <a:p>
            <a:pPr/>
            <a:r>
              <a:rPr sz="2000" b="0">
                <a:latin typeface="Times New Roman"/>
              </a:rPr>
              <a:t>Developed async processing pipeline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OCR depends on scan quality</a:t>
            </a:r>
          </a:p>
          <a:p>
            <a:pPr/>
            <a:r>
              <a:rPr sz="2000" b="0">
                <a:latin typeface="Times New Roman"/>
              </a:rPr>
              <a:t>English-only support</a:t>
            </a:r>
          </a:p>
          <a:p>
            <a:pPr/>
            <a:r>
              <a:rPr sz="2000" b="0">
                <a:latin typeface="Times New Roman"/>
              </a:rPr>
              <a:t>FAISS memory limitations</a:t>
            </a:r>
          </a:p>
          <a:p>
            <a:pPr/>
            <a:r>
              <a:rPr sz="2000" b="0">
                <a:latin typeface="Times New Roman"/>
              </a:rPr>
              <a:t>Ollama requires strong hardware</a:t>
            </a:r>
          </a:p>
          <a:p>
            <a:pPr/>
            <a:r>
              <a:rPr sz="2000" b="0">
                <a:latin typeface="Times New Roman"/>
              </a:rPr>
              <a:t>Technical documents may require fine-tuned models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Multi-document chat</a:t>
            </a:r>
          </a:p>
          <a:p>
            <a:pPr/>
            <a:r>
              <a:rPr sz="2000" b="0">
                <a:latin typeface="Times New Roman"/>
              </a:rPr>
              <a:t>PDF/DOCX summary export</a:t>
            </a:r>
          </a:p>
          <a:p>
            <a:pPr/>
            <a:r>
              <a:rPr sz="2000" b="0">
                <a:latin typeface="Times New Roman"/>
              </a:rPr>
              <a:t>Mobile application</a:t>
            </a:r>
          </a:p>
          <a:p>
            <a:pPr/>
            <a:r>
              <a:rPr sz="2000" b="0">
                <a:latin typeface="Times New Roman"/>
              </a:rPr>
              <a:t>Team collaboration workspaces</a:t>
            </a:r>
          </a:p>
          <a:p>
            <a:pPr/>
            <a:r>
              <a:rPr sz="2000" b="0">
                <a:latin typeface="Times New Roman"/>
              </a:rPr>
              <a:t>Multilingual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EasyDocs solves document comprehension challenges</a:t>
            </a:r>
          </a:p>
          <a:p>
            <a:pPr/>
            <a:r>
              <a:rPr sz="2000" b="0">
                <a:latin typeface="Times New Roman"/>
              </a:rPr>
              <a:t>Combines AI, RAG, OCR, and vector search</a:t>
            </a:r>
          </a:p>
          <a:p>
            <a:pPr/>
            <a:r>
              <a:rPr sz="2000" b="0">
                <a:latin typeface="Times New Roman"/>
              </a:rPr>
              <a:t>Provides reliable source-cited answers</a:t>
            </a:r>
          </a:p>
          <a:p>
            <a:pPr/>
            <a:r>
              <a:rPr sz="2000" b="0">
                <a:latin typeface="Times New Roman"/>
              </a:rPr>
              <a:t>Demonstrates scalable architecture</a:t>
            </a:r>
          </a:p>
          <a:p>
            <a:pPr/>
            <a:r>
              <a:rPr sz="2000" b="0">
                <a:latin typeface="Times New Roman"/>
              </a:rPr>
              <a:t>Suitable for academic and enterprise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Times New Roman"/>
              </a:rPr>
              <a:t>Lewis et al. – RAG Research Paper</a:t>
            </a:r>
          </a:p>
          <a:p>
            <a:pPr/>
            <a:r>
              <a:rPr sz="2000" b="0">
                <a:latin typeface="Times New Roman"/>
              </a:rPr>
              <a:t>Johnson et al. – FAISS</a:t>
            </a:r>
          </a:p>
          <a:p>
            <a:pPr/>
            <a:r>
              <a:rPr sz="2000" b="0">
                <a:latin typeface="Times New Roman"/>
              </a:rPr>
              <a:t>FastAPI Documentation</a:t>
            </a:r>
          </a:p>
          <a:p>
            <a:pPr/>
            <a:r>
              <a:rPr sz="2000" b="0">
                <a:latin typeface="Times New Roman"/>
              </a:rPr>
              <a:t>MongoDB Documentation</a:t>
            </a:r>
          </a:p>
          <a:p>
            <a:pPr/>
            <a:r>
              <a:rPr sz="2000" b="0">
                <a:latin typeface="Times New Roman"/>
              </a:rPr>
              <a:t>Next.js Documentation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7290</TotalTime>
  <Words>222</Words>
  <Application>Microsoft Office PowerPoint</Application>
  <PresentationFormat>Widescreen</PresentationFormat>
  <Paragraphs>42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Mahesh_Kumar Joshi</cp:lastModifiedBy>
  <cp:revision>75</cp:revision>
  <dcterms:created xsi:type="dcterms:W3CDTF">2020-03-02T04:57:11Z</dcterms:created>
  <dcterms:modified xsi:type="dcterms:W3CDTF">2026-05-14T09:02:15Z</dcterms:modified>
</cp:coreProperties>
</file>